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82" r:id="rId3"/>
    <p:sldId id="257" r:id="rId4"/>
    <p:sldId id="271" r:id="rId5"/>
    <p:sldId id="258" r:id="rId6"/>
    <p:sldId id="279" r:id="rId7"/>
    <p:sldId id="281" r:id="rId8"/>
    <p:sldId id="280" r:id="rId9"/>
    <p:sldId id="274" r:id="rId10"/>
    <p:sldId id="259" r:id="rId11"/>
    <p:sldId id="260" r:id="rId12"/>
    <p:sldId id="261" r:id="rId13"/>
    <p:sldId id="262" r:id="rId14"/>
    <p:sldId id="272" r:id="rId15"/>
    <p:sldId id="273" r:id="rId16"/>
    <p:sldId id="263" r:id="rId17"/>
    <p:sldId id="264" r:id="rId18"/>
    <p:sldId id="265" r:id="rId19"/>
    <p:sldId id="266" r:id="rId20"/>
    <p:sldId id="267" r:id="rId21"/>
    <p:sldId id="268" r:id="rId22"/>
    <p:sldId id="278" r:id="rId23"/>
    <p:sldId id="270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9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2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3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90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71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03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1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6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5B074-9FC5-4BE9-99B0-9FC89893C78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83C76-30C5-4C18-B8EE-57192FD8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28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2127316" y="160313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he-IL" dirty="0" smtClean="0">
                <a:solidFill>
                  <a:srgbClr val="0070C0"/>
                </a:solidFill>
              </a:rPr>
              <a:t>הוספת </a:t>
            </a:r>
            <a:r>
              <a:rPr lang="en-US" dirty="0" smtClean="0">
                <a:solidFill>
                  <a:srgbClr val="0070C0"/>
                </a:solidFill>
              </a:rPr>
              <a:t>web interface</a:t>
            </a:r>
            <a:r>
              <a:rPr lang="he-IL" dirty="0" smtClean="0">
                <a:solidFill>
                  <a:srgbClr val="0070C0"/>
                </a:solidFill>
              </a:rPr>
              <a:t/>
            </a:r>
            <a:br>
              <a:rPr lang="he-IL" dirty="0" smtClean="0">
                <a:solidFill>
                  <a:srgbClr val="0070C0"/>
                </a:solidFill>
              </a:rPr>
            </a:br>
            <a:r>
              <a:rPr lang="he-IL" dirty="0" smtClean="0">
                <a:solidFill>
                  <a:srgbClr val="0070C0"/>
                </a:solidFill>
              </a:rPr>
              <a:t>למחברת </a:t>
            </a:r>
            <a:r>
              <a:rPr lang="en-US" dirty="0" err="1" smtClean="0">
                <a:solidFill>
                  <a:srgbClr val="0070C0"/>
                </a:solidFill>
              </a:rPr>
              <a:t>collab</a:t>
            </a:r>
            <a:r>
              <a:rPr lang="he-IL" dirty="0" smtClean="0">
                <a:solidFill>
                  <a:srgbClr val="0070C0"/>
                </a:solidFill>
              </a:rPr>
              <a:t/>
            </a:r>
            <a:br>
              <a:rPr lang="he-IL" dirty="0" smtClean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196446" y="4204356"/>
            <a:ext cx="7783398" cy="85783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Using Anvil Application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078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/>
          <a:lstStyle/>
          <a:p>
            <a:r>
              <a:rPr lang="he-IL" dirty="0" smtClean="0"/>
              <a:t>הרצה</a:t>
            </a: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233393" y="1335431"/>
            <a:ext cx="8205247" cy="3538228"/>
          </a:xfrm>
        </p:spPr>
        <p:txBody>
          <a:bodyPr>
            <a:normAutofit/>
          </a:bodyPr>
          <a:lstStyle/>
          <a:p>
            <a:r>
              <a:rPr lang="he-IL" sz="2000" dirty="0" smtClean="0"/>
              <a:t>יש 2 מחברות </a:t>
            </a:r>
            <a:r>
              <a:rPr lang="en-US" sz="2000" dirty="0" smtClean="0"/>
              <a:t>google </a:t>
            </a:r>
            <a:r>
              <a:rPr lang="en-US" sz="2000" dirty="0" err="1" smtClean="0"/>
              <a:t>collab</a:t>
            </a:r>
            <a:endParaRPr lang="en-US" sz="2000" dirty="0" smtClean="0"/>
          </a:p>
          <a:p>
            <a:pPr lvl="1"/>
            <a:r>
              <a:rPr lang="he-IL" sz="1800" dirty="0" smtClean="0"/>
              <a:t>מחברת הדגמה המעלה קבצים מהרשת או מה </a:t>
            </a:r>
            <a:r>
              <a:rPr lang="en-US" sz="1800" dirty="0" smtClean="0"/>
              <a:t>local pc</a:t>
            </a:r>
          </a:p>
          <a:p>
            <a:pPr lvl="1"/>
            <a:r>
              <a:rPr lang="he-IL" sz="1800" dirty="0" smtClean="0"/>
              <a:t>מחברת המכילה את ה- </a:t>
            </a:r>
            <a:r>
              <a:rPr lang="en-US" sz="1800" dirty="0" smtClean="0"/>
              <a:t>Anvil Server</a:t>
            </a:r>
          </a:p>
          <a:p>
            <a:pPr lvl="1"/>
            <a:endParaRPr lang="en-US" sz="1800" dirty="0"/>
          </a:p>
          <a:p>
            <a:r>
              <a:rPr lang="he-IL" sz="2000" dirty="0" smtClean="0"/>
              <a:t>יש להריץ את </a:t>
            </a:r>
            <a:r>
              <a:rPr lang="en-US" sz="2000" dirty="0" smtClean="0"/>
              <a:t>Anvil Server</a:t>
            </a:r>
          </a:p>
          <a:p>
            <a:pPr lvl="1"/>
            <a:r>
              <a:rPr lang="en-US" sz="1800" dirty="0" smtClean="0"/>
              <a:t>Last cell </a:t>
            </a:r>
            <a:r>
              <a:rPr lang="en-IL" sz="1800" dirty="0" smtClean="0"/>
              <a:t>–</a:t>
            </a:r>
            <a:r>
              <a:rPr lang="en-US" sz="1800" dirty="0" smtClean="0"/>
              <a:t> run forever</a:t>
            </a:r>
            <a:endParaRPr lang="he-IL" sz="1800" dirty="0" smtClean="0"/>
          </a:p>
          <a:p>
            <a:pPr lvl="1"/>
            <a:r>
              <a:rPr lang="he-IL" sz="1800" dirty="0" smtClean="0"/>
              <a:t>מטרה </a:t>
            </a:r>
            <a:r>
              <a:rPr lang="en-IL" sz="1800" dirty="0" smtClean="0"/>
              <a:t>–</a:t>
            </a:r>
            <a:r>
              <a:rPr lang="he-IL" sz="1800" dirty="0" smtClean="0"/>
              <a:t> </a:t>
            </a:r>
            <a:r>
              <a:rPr lang="en-US" sz="1800" dirty="0" smtClean="0"/>
              <a:t>Anvil web app</a:t>
            </a:r>
            <a:r>
              <a:rPr lang="he-IL" sz="1800" dirty="0" smtClean="0"/>
              <a:t>, יתחבר למחברת הכוללת את ה </a:t>
            </a:r>
            <a:r>
              <a:rPr lang="en-US" sz="1800" dirty="0" smtClean="0"/>
              <a:t>Anvil Server</a:t>
            </a:r>
            <a:endParaRPr lang="he-IL" sz="1800" dirty="0" smtClean="0"/>
          </a:p>
          <a:p>
            <a:pPr lvl="1"/>
            <a:endParaRPr lang="he-IL" sz="1800" dirty="0"/>
          </a:p>
          <a:p>
            <a:r>
              <a:rPr lang="he-IL" sz="2000" dirty="0" smtClean="0"/>
              <a:t>לגשת לאתר של </a:t>
            </a:r>
            <a:r>
              <a:rPr lang="en-US" sz="2000" dirty="0" smtClean="0"/>
              <a:t>Anvil</a:t>
            </a:r>
            <a:r>
              <a:rPr lang="he-IL" sz="2000" dirty="0" smtClean="0"/>
              <a:t> </a:t>
            </a:r>
            <a:r>
              <a:rPr lang="en-IL" sz="2000" dirty="0" smtClean="0"/>
              <a:t>–</a:t>
            </a:r>
            <a:r>
              <a:rPr lang="he-IL" sz="2000" dirty="0" smtClean="0"/>
              <a:t> </a:t>
            </a:r>
            <a:r>
              <a:rPr lang="he-IL" sz="2000" u="sng" dirty="0" smtClean="0"/>
              <a:t>לחשבון שלי דרך </a:t>
            </a:r>
            <a:r>
              <a:rPr lang="en-US" sz="2000" u="sng" dirty="0" smtClean="0"/>
              <a:t>Login</a:t>
            </a:r>
          </a:p>
          <a:p>
            <a:endParaRPr lang="en-US" sz="2000" u="sng" dirty="0" smtClean="0"/>
          </a:p>
          <a:p>
            <a:pPr lvl="1"/>
            <a:endParaRPr lang="en-US" sz="1800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25" y="4842062"/>
            <a:ext cx="3204236" cy="1472351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54" y="5427663"/>
            <a:ext cx="2375436" cy="563744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792" y="4512718"/>
            <a:ext cx="2326080" cy="1853450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377" y="4934795"/>
            <a:ext cx="1492327" cy="154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5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>
                <a:solidFill>
                  <a:srgbClr val="0070C0"/>
                </a:solidFill>
              </a:rPr>
              <a:t>בניית האפליקציה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309566" y="1825625"/>
            <a:ext cx="9044233" cy="4351338"/>
          </a:xfrm>
        </p:spPr>
        <p:txBody>
          <a:bodyPr>
            <a:normAutofit/>
          </a:bodyPr>
          <a:lstStyle/>
          <a:p>
            <a:r>
              <a:rPr lang="he-IL" sz="2400" dirty="0" smtClean="0"/>
              <a:t>יש לפתוח חשבון ב- </a:t>
            </a:r>
            <a:r>
              <a:rPr lang="en-US" sz="2400" dirty="0" smtClean="0"/>
              <a:t>Anvil</a:t>
            </a:r>
          </a:p>
          <a:p>
            <a:pPr lvl="1"/>
            <a:r>
              <a:rPr lang="he-IL" sz="2000" dirty="0" smtClean="0"/>
              <a:t>יש לפתוח אפליקציה חדשה</a:t>
            </a:r>
            <a:endParaRPr lang="en-US" sz="2000" dirty="0" smtClean="0"/>
          </a:p>
          <a:p>
            <a:r>
              <a:rPr lang="he-IL" sz="2400" dirty="0" smtClean="0"/>
              <a:t>שימוש ב- </a:t>
            </a:r>
            <a:r>
              <a:rPr lang="en-US" sz="2400" dirty="0" smtClean="0"/>
              <a:t>:Design</a:t>
            </a:r>
            <a:endParaRPr lang="he-IL" sz="2400" dirty="0" smtClean="0"/>
          </a:p>
          <a:p>
            <a:pPr lvl="1"/>
            <a:r>
              <a:rPr lang="he-IL" sz="2000" dirty="0" smtClean="0"/>
              <a:t>תוך גרירת רכיבים  (</a:t>
            </a:r>
            <a:r>
              <a:rPr lang="en-US" sz="2000" dirty="0" smtClean="0"/>
              <a:t>components</a:t>
            </a:r>
            <a:r>
              <a:rPr lang="he-IL" sz="2000" dirty="0" smtClean="0"/>
              <a:t>)</a:t>
            </a:r>
            <a:r>
              <a:rPr lang="en-US" sz="2000" dirty="0" smtClean="0"/>
              <a:t> </a:t>
            </a:r>
            <a:r>
              <a:rPr lang="he-IL" sz="2000" dirty="0" smtClean="0"/>
              <a:t> </a:t>
            </a:r>
            <a:r>
              <a:rPr lang="he-IL" sz="2000" dirty="0" err="1" smtClean="0"/>
              <a:t>שיכיבו</a:t>
            </a:r>
            <a:r>
              <a:rPr lang="he-IL" sz="2000" dirty="0" smtClean="0"/>
              <a:t> את דף הממשק (</a:t>
            </a:r>
            <a:r>
              <a:rPr lang="en-US" sz="2000" dirty="0" smtClean="0"/>
              <a:t>GUI</a:t>
            </a:r>
            <a:r>
              <a:rPr lang="he-IL" sz="2000" dirty="0" smtClean="0"/>
              <a:t>)</a:t>
            </a:r>
            <a:endParaRPr lang="en-US" sz="2000" dirty="0" smtClean="0"/>
          </a:p>
          <a:p>
            <a:pPr lvl="1"/>
            <a:r>
              <a:rPr lang="he-IL" sz="2000" dirty="0" smtClean="0"/>
              <a:t>אתחול והכנסת ערכים לכל רכיב</a:t>
            </a:r>
          </a:p>
          <a:p>
            <a:pPr lvl="2"/>
            <a:r>
              <a:rPr lang="he-IL" sz="1800" dirty="0" smtClean="0"/>
              <a:t>חלק מהאתחולים יכילו שמות של פונקציות שיופעלו בהתאם להגדרת הממשק</a:t>
            </a:r>
            <a:r>
              <a:rPr lang="en-US" sz="1800" dirty="0" smtClean="0"/>
              <a:t> </a:t>
            </a:r>
            <a:r>
              <a:rPr lang="he-IL" sz="1800" dirty="0" smtClean="0"/>
              <a:t>( לדוגמא לחיצה על כפתור בממשק, תקרא פונקציה)</a:t>
            </a:r>
          </a:p>
          <a:p>
            <a:pPr lvl="2"/>
            <a:r>
              <a:rPr lang="he-IL" sz="1800" dirty="0" smtClean="0"/>
              <a:t>הפונקציות יתקשרו עם פונקציות במחברת </a:t>
            </a:r>
            <a:r>
              <a:rPr lang="en-US" sz="1800" dirty="0" smtClean="0"/>
              <a:t>Google Collab</a:t>
            </a:r>
          </a:p>
          <a:p>
            <a:pPr lvl="1"/>
            <a:r>
              <a:rPr lang="he-IL" sz="2000" dirty="0" smtClean="0"/>
              <a:t>חיבור האפליקציה למחברת </a:t>
            </a:r>
            <a:r>
              <a:rPr lang="en-US" sz="2000" dirty="0" smtClean="0"/>
              <a:t>Google Collab</a:t>
            </a:r>
            <a:endParaRPr lang="he-IL" sz="2000" dirty="0" smtClean="0"/>
          </a:p>
          <a:p>
            <a:pPr lvl="2"/>
            <a:r>
              <a:rPr lang="he-IL" sz="1800" dirty="0" smtClean="0"/>
              <a:t>דרך תהליך ה-  </a:t>
            </a:r>
            <a:r>
              <a:rPr lang="en-US" sz="1800" dirty="0" smtClean="0"/>
              <a:t>Uplink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75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2" y="752350"/>
            <a:ext cx="5661866" cy="3708323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729" y="2026762"/>
            <a:ext cx="5321230" cy="4696058"/>
          </a:xfrm>
          <a:prstGeom prst="rect">
            <a:avLst/>
          </a:prstGeom>
        </p:spPr>
      </p:pic>
      <p:cxnSp>
        <p:nvCxnSpPr>
          <p:cNvPr id="5" name="מחבר חץ ישר 4"/>
          <p:cNvCxnSpPr/>
          <p:nvPr/>
        </p:nvCxnSpPr>
        <p:spPr>
          <a:xfrm>
            <a:off x="2620652" y="3714161"/>
            <a:ext cx="3054284" cy="203619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97923" y="667881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 dirty="0" smtClean="0">
                <a:solidFill>
                  <a:srgbClr val="0070C0"/>
                </a:solidFill>
              </a:rPr>
              <a:t>פתיחת אפליקציה חדשה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01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623" y="3791357"/>
            <a:ext cx="3089386" cy="2551772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19" y="3096219"/>
            <a:ext cx="4810518" cy="3166276"/>
          </a:xfrm>
          <a:prstGeom prst="rect">
            <a:avLst/>
          </a:prstGeom>
        </p:spPr>
      </p:pic>
      <p:cxnSp>
        <p:nvCxnSpPr>
          <p:cNvPr id="8" name="מחבר חץ ישר 7"/>
          <p:cNvCxnSpPr/>
          <p:nvPr/>
        </p:nvCxnSpPr>
        <p:spPr>
          <a:xfrm>
            <a:off x="3048033" y="2929150"/>
            <a:ext cx="286956" cy="8110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/>
          <p:cNvCxnSpPr>
            <a:stCxn id="5" idx="3"/>
          </p:cNvCxnSpPr>
          <p:nvPr/>
        </p:nvCxnSpPr>
        <p:spPr>
          <a:xfrm>
            <a:off x="618763" y="3744543"/>
            <a:ext cx="2746606" cy="6581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חץ ישר 11"/>
          <p:cNvCxnSpPr/>
          <p:nvPr/>
        </p:nvCxnSpPr>
        <p:spPr>
          <a:xfrm>
            <a:off x="952959" y="5093359"/>
            <a:ext cx="2562024" cy="5020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/>
          <p:cNvCxnSpPr/>
          <p:nvPr/>
        </p:nvCxnSpPr>
        <p:spPr>
          <a:xfrm flipH="1">
            <a:off x="4448820" y="4956920"/>
            <a:ext cx="1831931" cy="10601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קבוצה 33"/>
          <p:cNvGrpSpPr/>
          <p:nvPr/>
        </p:nvGrpSpPr>
        <p:grpSpPr>
          <a:xfrm>
            <a:off x="6191872" y="4726024"/>
            <a:ext cx="820353" cy="710551"/>
            <a:chOff x="6008009" y="3331725"/>
            <a:chExt cx="820353" cy="710551"/>
          </a:xfrm>
        </p:grpSpPr>
        <p:pic>
          <p:nvPicPr>
            <p:cNvPr id="13" name="תמונה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1449" y="3331725"/>
              <a:ext cx="533474" cy="447737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6008009" y="3672944"/>
              <a:ext cx="820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button</a:t>
              </a:r>
              <a:endParaRPr lang="en-US" dirty="0"/>
            </a:p>
          </p:txBody>
        </p:sp>
      </p:grpSp>
      <p:grpSp>
        <p:nvGrpSpPr>
          <p:cNvPr id="45" name="קבוצה 44"/>
          <p:cNvGrpSpPr/>
          <p:nvPr/>
        </p:nvGrpSpPr>
        <p:grpSpPr>
          <a:xfrm>
            <a:off x="2540999" y="2232408"/>
            <a:ext cx="949298" cy="678149"/>
            <a:chOff x="2540999" y="2232408"/>
            <a:chExt cx="949298" cy="678149"/>
          </a:xfrm>
        </p:grpSpPr>
        <p:pic>
          <p:nvPicPr>
            <p:cNvPr id="4" name="תמונה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0060" y="2232408"/>
              <a:ext cx="608231" cy="491762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2540999" y="2602780"/>
              <a:ext cx="9492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File loader</a:t>
              </a:r>
              <a:endParaRPr lang="en-US" sz="1400" dirty="0"/>
            </a:p>
          </p:txBody>
        </p:sp>
      </p:grpSp>
      <p:grpSp>
        <p:nvGrpSpPr>
          <p:cNvPr id="40" name="קבוצה 39"/>
          <p:cNvGrpSpPr/>
          <p:nvPr/>
        </p:nvGrpSpPr>
        <p:grpSpPr>
          <a:xfrm>
            <a:off x="79262" y="3503645"/>
            <a:ext cx="856196" cy="696171"/>
            <a:chOff x="175643" y="2921918"/>
            <a:chExt cx="856196" cy="696171"/>
          </a:xfrm>
        </p:grpSpPr>
        <p:pic>
          <p:nvPicPr>
            <p:cNvPr id="5" name="תמונה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161" y="2921918"/>
              <a:ext cx="319983" cy="481796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75643" y="3279535"/>
              <a:ext cx="8561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image-1</a:t>
              </a:r>
              <a:endParaRPr lang="en-US" sz="1600" dirty="0"/>
            </a:p>
          </p:txBody>
        </p:sp>
      </p:grpSp>
      <p:pic>
        <p:nvPicPr>
          <p:cNvPr id="20" name="תמונה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589" y="5927439"/>
            <a:ext cx="439829" cy="4838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10719" y="6266807"/>
            <a:ext cx="4810517" cy="383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Label</a:t>
            </a:r>
            <a:endParaRPr lang="en-US" dirty="0"/>
          </a:p>
        </p:txBody>
      </p:sp>
      <p:cxnSp>
        <p:nvCxnSpPr>
          <p:cNvPr id="23" name="מחבר חץ ישר 22"/>
          <p:cNvCxnSpPr>
            <a:stCxn id="20" idx="3"/>
          </p:cNvCxnSpPr>
          <p:nvPr/>
        </p:nvCxnSpPr>
        <p:spPr>
          <a:xfrm>
            <a:off x="591418" y="6169345"/>
            <a:ext cx="790398" cy="2419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קבוצה 41"/>
          <p:cNvGrpSpPr/>
          <p:nvPr/>
        </p:nvGrpSpPr>
        <p:grpSpPr>
          <a:xfrm>
            <a:off x="124309" y="4762240"/>
            <a:ext cx="959130" cy="685694"/>
            <a:chOff x="124309" y="4762240"/>
            <a:chExt cx="959130" cy="685694"/>
          </a:xfrm>
        </p:grpSpPr>
        <p:pic>
          <p:nvPicPr>
            <p:cNvPr id="6" name="תמונה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0005" y="4762240"/>
              <a:ext cx="447737" cy="495369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24309" y="5109380"/>
              <a:ext cx="9591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Image-2</a:t>
              </a:r>
              <a:endParaRPr lang="en-US" sz="1600" dirty="0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674936" y="480767"/>
            <a:ext cx="5778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 smtClean="0">
                <a:solidFill>
                  <a:srgbClr val="0070C0"/>
                </a:solidFill>
              </a:rPr>
              <a:t>בניית ממשק דרך גרירת רכיבים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69003" y="1309850"/>
            <a:ext cx="62549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i="1" dirty="0" smtClean="0"/>
              <a:t>תכנון דף הממשק:</a:t>
            </a:r>
            <a:endParaRPr lang="en-US" i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טעינת תמונה דרך </a:t>
            </a:r>
            <a:r>
              <a:rPr lang="en-US" dirty="0" smtClean="0"/>
              <a:t>file loader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התמונה שבקובץ תוצג במקום </a:t>
            </a:r>
            <a:r>
              <a:rPr lang="en-US" dirty="0" smtClean="0"/>
              <a:t>image-1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לחיצה על כפתור  </a:t>
            </a:r>
            <a:r>
              <a:rPr lang="en-US" dirty="0" smtClean="0"/>
              <a:t>categorize</a:t>
            </a:r>
            <a:endParaRPr lang="he-I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תוצאת התמונה (תמונה עם זיהוי האובייקט) תוצג במקום </a:t>
            </a:r>
            <a:r>
              <a:rPr lang="en-US" dirty="0" smtClean="0"/>
              <a:t>image-2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זיהוי האובייקטים תוצג ב </a:t>
            </a:r>
            <a:r>
              <a:rPr lang="en-US" dirty="0" smtClean="0"/>
              <a:t>label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757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5674936" y="480767"/>
            <a:ext cx="5778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 smtClean="0">
                <a:solidFill>
                  <a:srgbClr val="0070C0"/>
                </a:solidFill>
              </a:rPr>
              <a:t>בניית ממשק דרך גרירת רכיבים - הערות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032485" y="1309850"/>
            <a:ext cx="8991436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i="1" dirty="0" smtClean="0"/>
              <a:t>תכנון דף הממשק:</a:t>
            </a:r>
            <a:endParaRPr lang="en-US" i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טעינת תמונה דרך </a:t>
            </a:r>
            <a:r>
              <a:rPr lang="en-US" dirty="0" smtClean="0"/>
              <a:t>file loader</a:t>
            </a:r>
            <a:endParaRPr lang="he-I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>
                <a:solidFill>
                  <a:srgbClr val="00B050"/>
                </a:solidFill>
              </a:rPr>
              <a:t>הקבצים נטענים מהמחשב הלוקאלי </a:t>
            </a:r>
            <a:r>
              <a:rPr lang="en-IL" dirty="0" smtClean="0">
                <a:solidFill>
                  <a:srgbClr val="00B050"/>
                </a:solidFill>
              </a:rPr>
              <a:t>–</a:t>
            </a:r>
            <a:r>
              <a:rPr lang="he-IL" dirty="0" smtClean="0">
                <a:solidFill>
                  <a:srgbClr val="00B050"/>
                </a:solidFill>
              </a:rPr>
              <a:t> אין אינטגרציה בין </a:t>
            </a:r>
            <a:r>
              <a:rPr lang="en-US" dirty="0" smtClean="0">
                <a:solidFill>
                  <a:srgbClr val="00B050"/>
                </a:solidFill>
              </a:rPr>
              <a:t>Anvil</a:t>
            </a:r>
            <a:r>
              <a:rPr lang="he-IL" dirty="0" smtClean="0">
                <a:solidFill>
                  <a:srgbClr val="00B050"/>
                </a:solidFill>
              </a:rPr>
              <a:t>  ל </a:t>
            </a:r>
            <a:r>
              <a:rPr lang="en-US" dirty="0" smtClean="0">
                <a:solidFill>
                  <a:srgbClr val="00B050"/>
                </a:solidFill>
              </a:rPr>
              <a:t>google Drive</a:t>
            </a:r>
            <a:endParaRPr lang="he-IL" dirty="0" smtClean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התמונה שבקובץ תוצג במקום </a:t>
            </a:r>
            <a:r>
              <a:rPr lang="en-US" dirty="0" smtClean="0"/>
              <a:t>image-1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הצגת התוצאה בצבעים שונים מהמקור </a:t>
            </a:r>
            <a:r>
              <a:rPr lang="en-IL" dirty="0" smtClean="0"/>
              <a:t>–</a:t>
            </a:r>
            <a:r>
              <a:rPr lang="he-IL" dirty="0" smtClean="0"/>
              <a:t> אפשר לשחק עם </a:t>
            </a:r>
            <a:r>
              <a:rPr lang="en-IL" dirty="0" smtClean="0"/>
              <a:t>–</a:t>
            </a:r>
            <a:r>
              <a:rPr lang="he-IL" dirty="0" smtClean="0"/>
              <a:t> דוגמא במחברת </a:t>
            </a:r>
            <a:r>
              <a:rPr lang="en-US" dirty="0" smtClean="0"/>
              <a:t>YOLO</a:t>
            </a:r>
            <a:r>
              <a:rPr lang="he-IL" dirty="0" smtClean="0"/>
              <a:t> ללא </a:t>
            </a:r>
            <a:r>
              <a:rPr lang="en-US" dirty="0" smtClean="0"/>
              <a:t>AVVIL</a:t>
            </a:r>
            <a:r>
              <a:rPr lang="he-IL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algn="l"/>
            <a:r>
              <a:rPr lang="en-US" sz="1400" dirty="0" err="1" smtClean="0">
                <a:solidFill>
                  <a:srgbClr val="00B050"/>
                </a:solidFill>
              </a:rPr>
              <a:t>def</a:t>
            </a:r>
            <a:r>
              <a:rPr lang="en-US" sz="1400" dirty="0" smtClean="0">
                <a:solidFill>
                  <a:srgbClr val="00B050"/>
                </a:solidFill>
              </a:rPr>
              <a:t> </a:t>
            </a:r>
            <a:r>
              <a:rPr lang="en-US" sz="1400" dirty="0">
                <a:solidFill>
                  <a:srgbClr val="00B050"/>
                </a:solidFill>
              </a:rPr>
              <a:t>load_image1(</a:t>
            </a:r>
            <a:r>
              <a:rPr lang="en-US" sz="1400" dirty="0" err="1">
                <a:solidFill>
                  <a:srgbClr val="00B050"/>
                </a:solidFill>
              </a:rPr>
              <a:t>url</a:t>
            </a:r>
            <a:r>
              <a:rPr lang="en-US" sz="1400" dirty="0">
                <a:solidFill>
                  <a:srgbClr val="00B050"/>
                </a:solidFill>
              </a:rPr>
              <a:t>):</a:t>
            </a:r>
          </a:p>
          <a:p>
            <a:pPr algn="l"/>
            <a:r>
              <a:rPr lang="en-US" sz="1400" dirty="0">
                <a:solidFill>
                  <a:srgbClr val="00B050"/>
                </a:solidFill>
              </a:rPr>
              <a:t>    </a:t>
            </a:r>
            <a:r>
              <a:rPr lang="en-US" sz="1400" dirty="0" err="1">
                <a:solidFill>
                  <a:srgbClr val="00B050"/>
                </a:solidFill>
              </a:rPr>
              <a:t>img</a:t>
            </a:r>
            <a:r>
              <a:rPr lang="en-US" sz="1400" dirty="0">
                <a:solidFill>
                  <a:srgbClr val="00B050"/>
                </a:solidFill>
              </a:rPr>
              <a:t> = cv2.imread(cv2.samples.findFile(</a:t>
            </a:r>
            <a:r>
              <a:rPr lang="en-US" sz="1400" dirty="0" err="1">
                <a:solidFill>
                  <a:srgbClr val="00B050"/>
                </a:solidFill>
              </a:rPr>
              <a:t>url</a:t>
            </a:r>
            <a:r>
              <a:rPr lang="en-US" sz="1400" dirty="0">
                <a:solidFill>
                  <a:srgbClr val="00B050"/>
                </a:solidFill>
              </a:rPr>
              <a:t>))</a:t>
            </a:r>
          </a:p>
          <a:p>
            <a:pPr algn="l"/>
            <a:r>
              <a:rPr lang="en-US" sz="1400" dirty="0">
                <a:solidFill>
                  <a:srgbClr val="00B050"/>
                </a:solidFill>
              </a:rPr>
              <a:t>    </a:t>
            </a:r>
            <a:r>
              <a:rPr lang="en-US" sz="1400" dirty="0" err="1">
                <a:solidFill>
                  <a:srgbClr val="00B050"/>
                </a:solidFill>
              </a:rPr>
              <a:t>img</a:t>
            </a:r>
            <a:r>
              <a:rPr lang="en-US" sz="1400" dirty="0">
                <a:solidFill>
                  <a:srgbClr val="00B050"/>
                </a:solidFill>
              </a:rPr>
              <a:t> = cv2.cvtColor(</a:t>
            </a:r>
            <a:r>
              <a:rPr lang="en-US" sz="1400" dirty="0" err="1">
                <a:solidFill>
                  <a:srgbClr val="00B050"/>
                </a:solidFill>
              </a:rPr>
              <a:t>img</a:t>
            </a:r>
            <a:r>
              <a:rPr lang="en-US" sz="1400" dirty="0">
                <a:solidFill>
                  <a:srgbClr val="00B050"/>
                </a:solidFill>
              </a:rPr>
              <a:t>, cv2.COLOR_BGR2RGB)</a:t>
            </a:r>
          </a:p>
          <a:p>
            <a:pPr algn="l"/>
            <a:r>
              <a:rPr lang="en-US" sz="1400" dirty="0">
                <a:solidFill>
                  <a:srgbClr val="00B050"/>
                </a:solidFill>
              </a:rPr>
              <a:t>    return </a:t>
            </a:r>
            <a:r>
              <a:rPr lang="en-US" sz="1400" dirty="0" err="1">
                <a:solidFill>
                  <a:srgbClr val="00B050"/>
                </a:solidFill>
              </a:rPr>
              <a:t>img</a:t>
            </a:r>
            <a:endParaRPr lang="en-US" sz="1400" dirty="0">
              <a:solidFill>
                <a:srgbClr val="00B050"/>
              </a:solidFill>
            </a:endParaRPr>
          </a:p>
          <a:p>
            <a:pPr algn="l"/>
            <a:r>
              <a:rPr lang="en-US" sz="1400" dirty="0">
                <a:solidFill>
                  <a:srgbClr val="00B050"/>
                </a:solidFill>
              </a:rPr>
              <a:t/>
            </a:r>
            <a:br>
              <a:rPr lang="en-US" sz="1400" dirty="0">
                <a:solidFill>
                  <a:srgbClr val="00B050"/>
                </a:solidFill>
              </a:rPr>
            </a:br>
            <a:r>
              <a:rPr lang="en-US" sz="1400" dirty="0" err="1">
                <a:solidFill>
                  <a:srgbClr val="00B050"/>
                </a:solidFill>
              </a:rPr>
              <a:t>def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load_image</a:t>
            </a:r>
            <a:r>
              <a:rPr lang="en-US" sz="1400" dirty="0">
                <a:solidFill>
                  <a:srgbClr val="00B050"/>
                </a:solidFill>
              </a:rPr>
              <a:t>(</a:t>
            </a:r>
            <a:r>
              <a:rPr lang="en-US" sz="1400" dirty="0" err="1">
                <a:solidFill>
                  <a:srgbClr val="00B050"/>
                </a:solidFill>
              </a:rPr>
              <a:t>url</a:t>
            </a:r>
            <a:r>
              <a:rPr lang="en-US" sz="1400" dirty="0">
                <a:solidFill>
                  <a:srgbClr val="00B050"/>
                </a:solidFill>
              </a:rPr>
              <a:t>):</a:t>
            </a:r>
          </a:p>
          <a:p>
            <a:pPr algn="l"/>
            <a:r>
              <a:rPr lang="en-US" sz="1400" dirty="0">
                <a:solidFill>
                  <a:srgbClr val="00B050"/>
                </a:solidFill>
              </a:rPr>
              <a:t>  </a:t>
            </a:r>
            <a:r>
              <a:rPr lang="en-US" sz="1400" dirty="0" err="1">
                <a:solidFill>
                  <a:srgbClr val="00B050"/>
                </a:solidFill>
              </a:rPr>
              <a:t>img</a:t>
            </a:r>
            <a:r>
              <a:rPr lang="en-US" sz="1400" dirty="0">
                <a:solidFill>
                  <a:srgbClr val="00B050"/>
                </a:solidFill>
              </a:rPr>
              <a:t> = </a:t>
            </a:r>
            <a:r>
              <a:rPr lang="en-US" sz="1400" dirty="0" err="1">
                <a:solidFill>
                  <a:srgbClr val="00B050"/>
                </a:solidFill>
              </a:rPr>
              <a:t>plt.imread</a:t>
            </a:r>
            <a:r>
              <a:rPr lang="en-US" sz="1400" dirty="0">
                <a:solidFill>
                  <a:srgbClr val="00B050"/>
                </a:solidFill>
              </a:rPr>
              <a:t>(</a:t>
            </a:r>
            <a:r>
              <a:rPr lang="en-US" sz="1400" dirty="0" err="1">
                <a:solidFill>
                  <a:srgbClr val="00B050"/>
                </a:solidFill>
              </a:rPr>
              <a:t>url</a:t>
            </a:r>
            <a:r>
              <a:rPr lang="en-US" sz="1400" dirty="0">
                <a:solidFill>
                  <a:srgbClr val="00B050"/>
                </a:solidFill>
              </a:rPr>
              <a:t>) #create </a:t>
            </a:r>
            <a:r>
              <a:rPr lang="en-US" sz="1400" dirty="0" err="1">
                <a:solidFill>
                  <a:srgbClr val="00B050"/>
                </a:solidFill>
              </a:rPr>
              <a:t>numpy</a:t>
            </a:r>
            <a:r>
              <a:rPr lang="en-US" sz="1400" dirty="0">
                <a:solidFill>
                  <a:srgbClr val="00B050"/>
                </a:solidFill>
              </a:rPr>
              <a:t> array</a:t>
            </a:r>
          </a:p>
          <a:p>
            <a:pPr algn="l"/>
            <a:r>
              <a:rPr lang="en-US" sz="1400" dirty="0">
                <a:solidFill>
                  <a:srgbClr val="00B050"/>
                </a:solidFill>
              </a:rPr>
              <a:t>  return </a:t>
            </a:r>
            <a:r>
              <a:rPr lang="en-US" sz="1400" dirty="0" err="1">
                <a:solidFill>
                  <a:srgbClr val="00B050"/>
                </a:solidFill>
              </a:rPr>
              <a:t>img</a:t>
            </a:r>
            <a:endParaRPr lang="en-US" sz="1400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541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4298624" y="480767"/>
            <a:ext cx="7154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 smtClean="0">
                <a:solidFill>
                  <a:srgbClr val="0070C0"/>
                </a:solidFill>
              </a:rPr>
              <a:t>בניית ממשק דרך גרירת רכיבים </a:t>
            </a:r>
            <a:r>
              <a:rPr lang="en-IL" sz="2400" dirty="0" smtClean="0">
                <a:solidFill>
                  <a:srgbClr val="0070C0"/>
                </a:solidFill>
              </a:rPr>
              <a:t>–</a:t>
            </a:r>
            <a:r>
              <a:rPr lang="he-IL" sz="2400" dirty="0" smtClean="0">
                <a:solidFill>
                  <a:srgbClr val="0070C0"/>
                </a:solidFill>
              </a:rPr>
              <a:t> הערות - המשך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1239" y="1309850"/>
            <a:ext cx="48826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 i="1" dirty="0" smtClean="0">
                <a:solidFill>
                  <a:srgbClr val="FF0000"/>
                </a:solidFill>
              </a:rPr>
              <a:t>בזמן התקנה של </a:t>
            </a:r>
            <a:r>
              <a:rPr lang="en-US" sz="1600" i="1" dirty="0" smtClean="0">
                <a:solidFill>
                  <a:srgbClr val="FF0000"/>
                </a:solidFill>
              </a:rPr>
              <a:t>Anvil - </a:t>
            </a:r>
            <a:r>
              <a:rPr lang="he-IL" sz="1600" i="1" dirty="0" smtClean="0">
                <a:solidFill>
                  <a:srgbClr val="FF0000"/>
                </a:solidFill>
              </a:rPr>
              <a:t> - מתקבל הודעת שגיאה עם בקשה </a:t>
            </a:r>
            <a:endParaRPr lang="en-US" sz="1600" i="1" dirty="0" smtClean="0">
              <a:solidFill>
                <a:srgbClr val="FF0000"/>
              </a:solidFill>
            </a:endParaRPr>
          </a:p>
          <a:p>
            <a:r>
              <a:rPr lang="he-IL" sz="1600" i="1" dirty="0" smtClean="0">
                <a:solidFill>
                  <a:srgbClr val="FF0000"/>
                </a:solidFill>
              </a:rPr>
              <a:t>ל </a:t>
            </a:r>
            <a:r>
              <a:rPr lang="en-IL" sz="1600" i="1" dirty="0" smtClean="0">
                <a:solidFill>
                  <a:srgbClr val="FF0000"/>
                </a:solidFill>
              </a:rPr>
              <a:t>–</a:t>
            </a:r>
            <a:r>
              <a:rPr lang="he-IL" sz="1600" i="1" dirty="0" smtClean="0">
                <a:solidFill>
                  <a:srgbClr val="FF0000"/>
                </a:solidFill>
              </a:rPr>
              <a:t> </a:t>
            </a:r>
            <a:r>
              <a:rPr lang="en-US" sz="1600" i="1" dirty="0" smtClean="0">
                <a:solidFill>
                  <a:srgbClr val="FF0000"/>
                </a:solidFill>
              </a:rPr>
              <a:t>Restart</a:t>
            </a:r>
            <a:endParaRPr lang="he-IL" sz="1600" i="1" dirty="0" smtClean="0">
              <a:solidFill>
                <a:srgbClr val="FF0000"/>
              </a:solidFill>
            </a:endParaRPr>
          </a:p>
          <a:p>
            <a:r>
              <a:rPr lang="he-IL" sz="1600" i="1" dirty="0" smtClean="0">
                <a:solidFill>
                  <a:srgbClr val="FF0000"/>
                </a:solidFill>
              </a:rPr>
              <a:t>לא עוזר שמאשרים </a:t>
            </a:r>
            <a:r>
              <a:rPr lang="en-IL" sz="1600" i="1" dirty="0" smtClean="0">
                <a:solidFill>
                  <a:srgbClr val="FF0000"/>
                </a:solidFill>
              </a:rPr>
              <a:t>–</a:t>
            </a:r>
            <a:r>
              <a:rPr lang="he-IL" sz="1600" i="1" dirty="0" smtClean="0">
                <a:solidFill>
                  <a:srgbClr val="FF0000"/>
                </a:solidFill>
              </a:rPr>
              <a:t> פשוט ללחוץ </a:t>
            </a:r>
            <a:r>
              <a:rPr lang="en-US" sz="1600" i="1" dirty="0" smtClean="0">
                <a:solidFill>
                  <a:srgbClr val="FF0000"/>
                </a:solidFill>
              </a:rPr>
              <a:t>Cancel</a:t>
            </a:r>
            <a:r>
              <a:rPr lang="he-IL" sz="1600" i="1" dirty="0" smtClean="0">
                <a:solidFill>
                  <a:srgbClr val="FF0000"/>
                </a:solidFill>
              </a:rPr>
              <a:t>  או  </a:t>
            </a:r>
            <a:r>
              <a:rPr lang="en-US" sz="1600" i="1" dirty="0" smtClean="0">
                <a:solidFill>
                  <a:srgbClr val="FF0000"/>
                </a:solidFill>
              </a:rPr>
              <a:t>close</a:t>
            </a:r>
            <a:endParaRPr lang="en-US" sz="1600" dirty="0" smtClean="0">
              <a:solidFill>
                <a:srgbClr val="FF0000"/>
              </a:solidFill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34" y="1309850"/>
            <a:ext cx="5394329" cy="229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00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715" y="1904921"/>
            <a:ext cx="7188569" cy="304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5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110" y="1383331"/>
            <a:ext cx="3298260" cy="49758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74936" y="480767"/>
            <a:ext cx="5778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 smtClean="0">
                <a:solidFill>
                  <a:srgbClr val="0070C0"/>
                </a:solidFill>
              </a:rPr>
              <a:t>דוגמא למ</a:t>
            </a:r>
            <a:r>
              <a:rPr lang="he-IL" sz="2400" dirty="0">
                <a:solidFill>
                  <a:srgbClr val="0070C0"/>
                </a:solidFill>
              </a:rPr>
              <a:t>מ</a:t>
            </a:r>
            <a:r>
              <a:rPr lang="he-IL" sz="2400" dirty="0" smtClean="0">
                <a:solidFill>
                  <a:srgbClr val="0070C0"/>
                </a:solidFill>
              </a:rPr>
              <a:t>שק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390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870"/>
          </a:xfrm>
        </p:spPr>
        <p:txBody>
          <a:bodyPr>
            <a:normAutofit/>
          </a:bodyPr>
          <a:lstStyle/>
          <a:p>
            <a:r>
              <a:rPr lang="he-IL" sz="3200" dirty="0" smtClean="0">
                <a:solidFill>
                  <a:srgbClr val="0070C0"/>
                </a:solidFill>
              </a:rPr>
              <a:t>בניית האפליקציה - טעינת קובץ תמונה</a:t>
            </a:r>
            <a:br>
              <a:rPr lang="he-IL" sz="3200" dirty="0" smtClean="0">
                <a:solidFill>
                  <a:srgbClr val="0070C0"/>
                </a:solidFill>
              </a:rPr>
            </a:br>
            <a:r>
              <a:rPr lang="he-IL" sz="3200" dirty="0" smtClean="0">
                <a:solidFill>
                  <a:srgbClr val="0070C0"/>
                </a:solidFill>
              </a:rPr>
              <a:t>אתחול הרכיב </a:t>
            </a:r>
            <a:r>
              <a:rPr lang="en-US" sz="3200" dirty="0" smtClean="0">
                <a:solidFill>
                  <a:srgbClr val="0070C0"/>
                </a:solidFill>
              </a:rPr>
              <a:t>File loader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419" y="2387713"/>
            <a:ext cx="3604967" cy="1946507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79" y="1186480"/>
            <a:ext cx="3304331" cy="44628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74735" y="1690688"/>
            <a:ext cx="441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לוחצים על רכיב ומתחילים לקשר אותה לתוכנית: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722586" y="4924334"/>
            <a:ext cx="3429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נתינת שם: </a:t>
            </a:r>
            <a:r>
              <a:rPr lang="en-US" dirty="0" smtClean="0"/>
              <a:t>self</a:t>
            </a:r>
            <a:r>
              <a:rPr lang="he-IL" dirty="0" smtClean="0"/>
              <a:t>  תוספת ע"י המערכת</a:t>
            </a:r>
          </a:p>
          <a:p>
            <a:r>
              <a:rPr lang="he-IL" dirty="0" smtClean="0"/>
              <a:t>השם בדוגמא: </a:t>
            </a:r>
            <a:r>
              <a:rPr lang="en-US" dirty="0" err="1" smtClean="0"/>
              <a:t>load_image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433538" y="490894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12226" y="582439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474548" y="5824391"/>
            <a:ext cx="2267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קישור לפונקציה:</a:t>
            </a:r>
          </a:p>
          <a:p>
            <a:r>
              <a:rPr lang="en-US" dirty="0" err="1" smtClean="0"/>
              <a:t>Image_loader_change</a:t>
            </a:r>
            <a:endParaRPr lang="en-US" dirty="0"/>
          </a:p>
        </p:txBody>
      </p:sp>
      <p:sp>
        <p:nvSpPr>
          <p:cNvPr id="12" name="אליפסה 11"/>
          <p:cNvSpPr/>
          <p:nvPr/>
        </p:nvSpPr>
        <p:spPr>
          <a:xfrm>
            <a:off x="593889" y="895546"/>
            <a:ext cx="2564090" cy="8861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אליפסה 12"/>
          <p:cNvSpPr/>
          <p:nvPr/>
        </p:nvSpPr>
        <p:spPr>
          <a:xfrm>
            <a:off x="725864" y="5247499"/>
            <a:ext cx="3986362" cy="653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אליפסה 13"/>
          <p:cNvSpPr/>
          <p:nvPr/>
        </p:nvSpPr>
        <p:spPr>
          <a:xfrm>
            <a:off x="7220932" y="3385583"/>
            <a:ext cx="3139126" cy="66930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23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968" y="2114895"/>
            <a:ext cx="3962953" cy="2562583"/>
          </a:xfrm>
          <a:prstGeom prst="rect">
            <a:avLst/>
          </a:prstGeom>
        </p:spPr>
      </p:pic>
      <p:sp>
        <p:nvSpPr>
          <p:cNvPr id="3" name="כותרת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/>
              <a:t>בניית האפליקציה - הצגת תמונה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08311" y="1495752"/>
            <a:ext cx="367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נתחיל ב- </a:t>
            </a:r>
            <a:r>
              <a:rPr lang="en-US" dirty="0" smtClean="0"/>
              <a:t>visible</a:t>
            </a:r>
            <a:r>
              <a:rPr lang="he-IL" dirty="0" smtClean="0"/>
              <a:t>  לא בחור (נשנה בקוד)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481892" y="149575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3.</a:t>
            </a:r>
            <a:endParaRPr lang="en-US" dirty="0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82" y="2182842"/>
            <a:ext cx="3934374" cy="2152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22496" y="1506022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4.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31838" y="1533459"/>
            <a:ext cx="283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תמונה תחתונה </a:t>
            </a:r>
            <a:r>
              <a:rPr lang="en-IL" dirty="0" smtClean="0"/>
              <a:t>–</a:t>
            </a:r>
            <a:r>
              <a:rPr lang="he-IL" dirty="0" smtClean="0"/>
              <a:t> תציג תוצאה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335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בניית האפליקציה - הצגת תמונה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226" y="1451728"/>
            <a:ext cx="9225683" cy="41594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2467" y="1352926"/>
            <a:ext cx="37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5.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03575" y="5854045"/>
            <a:ext cx="375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פונקציה שתתבצע כשלוחצים על הכפתור</a:t>
            </a:r>
            <a:endParaRPr lang="en-US" dirty="0"/>
          </a:p>
        </p:txBody>
      </p:sp>
      <p:sp>
        <p:nvSpPr>
          <p:cNvPr id="2" name="מלבן 1"/>
          <p:cNvSpPr/>
          <p:nvPr/>
        </p:nvSpPr>
        <p:spPr>
          <a:xfrm>
            <a:off x="7503736" y="5326144"/>
            <a:ext cx="4223208" cy="4147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87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17" y="2251011"/>
            <a:ext cx="6742934" cy="3325597"/>
          </a:xfrm>
          <a:prstGeom prst="rect">
            <a:avLst/>
          </a:prstGeom>
        </p:spPr>
      </p:pic>
      <p:sp>
        <p:nvSpPr>
          <p:cNvPr id="3" name="כותרת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בניית האפליקציה - </a:t>
            </a:r>
            <a:r>
              <a:rPr lang="en-US" dirty="0" smtClean="0">
                <a:solidFill>
                  <a:srgbClr val="0070C0"/>
                </a:solidFill>
              </a:rPr>
              <a:t>code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21478" y="1601517"/>
            <a:ext cx="3332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קוד ברירת מחדל </a:t>
            </a:r>
            <a:r>
              <a:rPr lang="en-IL" dirty="0" smtClean="0"/>
              <a:t>–</a:t>
            </a:r>
            <a:r>
              <a:rPr lang="he-IL" dirty="0" smtClean="0"/>
              <a:t> מגיע מה- </a:t>
            </a:r>
            <a:r>
              <a:rPr lang="en-US" dirty="0" smtClean="0"/>
              <a:t>Anvil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379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בניית האפליקציה בתוך ה- </a:t>
            </a:r>
            <a:r>
              <a:rPr lang="en-US" dirty="0" smtClean="0">
                <a:solidFill>
                  <a:srgbClr val="0070C0"/>
                </a:solidFill>
              </a:rPr>
              <a:t>Anvil</a:t>
            </a:r>
            <a:r>
              <a:rPr lang="he-IL" dirty="0" smtClean="0">
                <a:solidFill>
                  <a:srgbClr val="0070C0"/>
                </a:solidFill>
              </a:rPr>
              <a:t> 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he-IL" sz="3200" dirty="0" smtClean="0">
                <a:solidFill>
                  <a:srgbClr val="0070C0"/>
                </a:solidFill>
              </a:rPr>
              <a:t>שלב - </a:t>
            </a:r>
            <a:r>
              <a:rPr lang="en-US" sz="3200" dirty="0" smtClean="0">
                <a:solidFill>
                  <a:srgbClr val="0070C0"/>
                </a:solidFill>
              </a:rPr>
              <a:t>code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19690" y="2184235"/>
            <a:ext cx="821410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 smtClean="0"/>
              <a:t>UPLOAD  double click</a:t>
            </a:r>
          </a:p>
          <a:p>
            <a:r>
              <a:rPr lang="he-IL" dirty="0" smtClean="0"/>
              <a:t>תיווצר פונקציה בצורה אוטומטית </a:t>
            </a:r>
            <a:r>
              <a:rPr lang="en-IL" dirty="0" smtClean="0"/>
              <a:t>–</a:t>
            </a:r>
            <a:r>
              <a:rPr lang="he-IL" dirty="0" smtClean="0"/>
              <a:t> שאת השם שלה הגדרנו בשלב אתחול הרכיב </a:t>
            </a:r>
            <a:r>
              <a:rPr lang="en-US" dirty="0" smtClean="0"/>
              <a:t>file loader</a:t>
            </a:r>
            <a:endParaRPr lang="en-US" dirty="0"/>
          </a:p>
        </p:txBody>
      </p:sp>
      <p:grpSp>
        <p:nvGrpSpPr>
          <p:cNvPr id="12" name="קבוצה 11"/>
          <p:cNvGrpSpPr/>
          <p:nvPr/>
        </p:nvGrpSpPr>
        <p:grpSpPr>
          <a:xfrm>
            <a:off x="772212" y="3870884"/>
            <a:ext cx="7556618" cy="1170316"/>
            <a:chOff x="838200" y="2394410"/>
            <a:chExt cx="7556618" cy="1170316"/>
          </a:xfrm>
        </p:grpSpPr>
        <p:pic>
          <p:nvPicPr>
            <p:cNvPr id="6" name="תמונה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283" y="2394410"/>
              <a:ext cx="7432535" cy="1170316"/>
            </a:xfrm>
            <a:prstGeom prst="rect">
              <a:avLst/>
            </a:prstGeom>
          </p:spPr>
        </p:pic>
        <p:sp>
          <p:nvSpPr>
            <p:cNvPr id="7" name="מלבן 6"/>
            <p:cNvSpPr/>
            <p:nvPr/>
          </p:nvSpPr>
          <p:spPr>
            <a:xfrm>
              <a:off x="838200" y="2979568"/>
              <a:ext cx="3488703" cy="4894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37132" y="3070427"/>
              <a:ext cx="16802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 sz="1400" dirty="0" smtClean="0"/>
                <a:t>הקוד שאנחנו מוסיפים</a:t>
              </a:r>
              <a:endParaRPr lang="en-US" sz="1400" dirty="0"/>
            </a:p>
          </p:txBody>
        </p:sp>
        <p:cxnSp>
          <p:nvCxnSpPr>
            <p:cNvPr id="10" name="מחבר חץ ישר 9"/>
            <p:cNvCxnSpPr/>
            <p:nvPr/>
          </p:nvCxnSpPr>
          <p:spPr>
            <a:xfrm flipH="1" flipV="1">
              <a:off x="4450986" y="3165976"/>
              <a:ext cx="1286146" cy="583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1218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בניית האפליקציה בתוך ה- </a:t>
            </a:r>
            <a:r>
              <a:rPr lang="en-US" dirty="0" smtClean="0">
                <a:solidFill>
                  <a:srgbClr val="0070C0"/>
                </a:solidFill>
              </a:rPr>
              <a:t>Anvil</a:t>
            </a:r>
            <a:r>
              <a:rPr lang="he-IL" dirty="0" smtClean="0">
                <a:solidFill>
                  <a:srgbClr val="0070C0"/>
                </a:solidFill>
              </a:rPr>
              <a:t> 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he-IL" sz="3200" dirty="0" smtClean="0">
                <a:solidFill>
                  <a:srgbClr val="0070C0"/>
                </a:solidFill>
              </a:rPr>
              <a:t>שלב - </a:t>
            </a:r>
            <a:r>
              <a:rPr lang="en-US" sz="3200" dirty="0" smtClean="0">
                <a:solidFill>
                  <a:srgbClr val="0070C0"/>
                </a:solidFill>
              </a:rPr>
              <a:t>code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28171" y="2184235"/>
            <a:ext cx="79056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 smtClean="0"/>
              <a:t>Categorize Button - double click</a:t>
            </a:r>
          </a:p>
          <a:p>
            <a:r>
              <a:rPr lang="he-IL" dirty="0" smtClean="0"/>
              <a:t>תיווצר פונקציה בצורה אוטומטית </a:t>
            </a:r>
            <a:r>
              <a:rPr lang="en-IL" dirty="0" smtClean="0"/>
              <a:t>–</a:t>
            </a:r>
            <a:r>
              <a:rPr lang="he-IL" dirty="0" smtClean="0"/>
              <a:t> שאת השם שלה הגדרנו בשלב אתחול הרכיב </a:t>
            </a:r>
            <a:r>
              <a:rPr lang="en-US" dirty="0" smtClean="0"/>
              <a:t>Button</a:t>
            </a:r>
            <a:endParaRPr lang="en-US" dirty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09" y="3035431"/>
            <a:ext cx="7072969" cy="3195685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323509" y="3695307"/>
            <a:ext cx="7255642" cy="2762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340488" y="3591613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הקוד שאנחנו מוסיפים</a:t>
            </a:r>
            <a:endParaRPr lang="en-US" dirty="0"/>
          </a:p>
        </p:txBody>
      </p:sp>
      <p:cxnSp>
        <p:nvCxnSpPr>
          <p:cNvPr id="14" name="מחבר חץ ישר 13"/>
          <p:cNvCxnSpPr/>
          <p:nvPr/>
        </p:nvCxnSpPr>
        <p:spPr>
          <a:xfrm flipH="1">
            <a:off x="7663992" y="3817856"/>
            <a:ext cx="1480008" cy="565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03996" y="4265052"/>
            <a:ext cx="34276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r>
              <a:rPr lang="he-IL" sz="1600" dirty="0" smtClean="0"/>
              <a:t>פונקציה מהמחברת </a:t>
            </a:r>
            <a:r>
              <a:rPr lang="en-US" sz="1600" dirty="0" smtClean="0"/>
              <a:t>google </a:t>
            </a:r>
            <a:r>
              <a:rPr lang="en-US" sz="1600" dirty="0" err="1" smtClean="0"/>
              <a:t>collab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200" dirty="0" smtClean="0"/>
              <a:t>שמקבלת כפרמטר את הקובץ שנטען בשלב הקודם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200" dirty="0" smtClean="0"/>
              <a:t>שימוש ב-</a:t>
            </a:r>
            <a:r>
              <a:rPr lang="en-US" sz="1200" dirty="0" smtClean="0"/>
              <a:t>self</a:t>
            </a:r>
            <a:r>
              <a:rPr lang="he-IL" sz="1200" dirty="0" smtClean="0"/>
              <a:t> היות וכל הרכיבים הם אובייקטים</a:t>
            </a:r>
            <a:endParaRPr lang="en-US" sz="1200" dirty="0"/>
          </a:p>
        </p:txBody>
      </p:sp>
      <p:cxnSp>
        <p:nvCxnSpPr>
          <p:cNvPr id="17" name="מחבר חץ ישר 16"/>
          <p:cNvCxnSpPr>
            <a:stCxn id="15" idx="1"/>
          </p:cNvCxnSpPr>
          <p:nvPr/>
        </p:nvCxnSpPr>
        <p:spPr>
          <a:xfrm flipH="1" flipV="1">
            <a:off x="4440026" y="4048505"/>
            <a:ext cx="3963970" cy="6936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חץ ישר 20"/>
          <p:cNvCxnSpPr>
            <a:stCxn id="15" idx="1"/>
          </p:cNvCxnSpPr>
          <p:nvPr/>
        </p:nvCxnSpPr>
        <p:spPr>
          <a:xfrm flipH="1" flipV="1">
            <a:off x="6096000" y="4048505"/>
            <a:ext cx="2307996" cy="6936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53379" y="5609795"/>
            <a:ext cx="31452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 dirty="0" smtClean="0"/>
              <a:t>הצגת תוצאת התמונה ברכיב </a:t>
            </a:r>
            <a:r>
              <a:rPr lang="en-US" sz="1600" dirty="0" smtClean="0"/>
              <a:t>image-2</a:t>
            </a:r>
          </a:p>
          <a:p>
            <a:r>
              <a:rPr lang="he-IL" sz="1600" dirty="0" smtClean="0"/>
              <a:t>הצגת טקסט הזיהוי ברכיב </a:t>
            </a:r>
            <a:r>
              <a:rPr lang="en-US" sz="1600" dirty="0" smtClean="0"/>
              <a:t>label</a:t>
            </a:r>
            <a:endParaRPr lang="en-US" sz="1600" dirty="0"/>
          </a:p>
        </p:txBody>
      </p:sp>
      <p:cxnSp>
        <p:nvCxnSpPr>
          <p:cNvPr id="27" name="מחבר חץ ישר 26"/>
          <p:cNvCxnSpPr/>
          <p:nvPr/>
        </p:nvCxnSpPr>
        <p:spPr>
          <a:xfrm flipH="1" flipV="1">
            <a:off x="3761295" y="4265052"/>
            <a:ext cx="4642701" cy="14947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חץ ישר 28"/>
          <p:cNvCxnSpPr/>
          <p:nvPr/>
        </p:nvCxnSpPr>
        <p:spPr>
          <a:xfrm flipH="1" flipV="1">
            <a:off x="5166464" y="5797043"/>
            <a:ext cx="3883268" cy="2898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385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77" y="1582486"/>
            <a:ext cx="7382162" cy="3781366"/>
          </a:xfrm>
          <a:prstGeom prst="rect">
            <a:avLst/>
          </a:prstGeom>
        </p:spPr>
      </p:pic>
      <p:sp>
        <p:nvSpPr>
          <p:cNvPr id="3" name="כותרת 1"/>
          <p:cNvSpPr txBox="1">
            <a:spLocks/>
          </p:cNvSpPr>
          <p:nvPr/>
        </p:nvSpPr>
        <p:spPr>
          <a:xfrm>
            <a:off x="838200" y="365126"/>
            <a:ext cx="10515600" cy="794372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בניית האפליקציה - </a:t>
            </a:r>
            <a:r>
              <a:rPr lang="en-US" dirty="0" smtClean="0">
                <a:solidFill>
                  <a:srgbClr val="0070C0"/>
                </a:solidFill>
              </a:rPr>
              <a:t>code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74867" y="1831114"/>
            <a:ext cx="52342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400" dirty="0" smtClean="0"/>
              <a:t>קריאה למחברת </a:t>
            </a:r>
            <a:r>
              <a:rPr lang="en-US" sz="1400" dirty="0" smtClean="0"/>
              <a:t> - </a:t>
            </a:r>
            <a:r>
              <a:rPr lang="en-US" sz="1400" dirty="0" err="1" smtClean="0"/>
              <a:t>collab</a:t>
            </a: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400" dirty="0" smtClean="0"/>
              <a:t>קורא לפונקציה:  </a:t>
            </a:r>
            <a:r>
              <a:rPr lang="en-US" sz="1400" dirty="0" err="1" smtClean="0"/>
              <a:t>classift_image</a:t>
            </a:r>
            <a:r>
              <a:rPr lang="he-IL" sz="1400" dirty="0" smtClean="0"/>
              <a:t>  עם הפרמטר שהוא אובייקט התמונה</a:t>
            </a: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400" dirty="0" smtClean="0"/>
              <a:t>קריאה למחברת </a:t>
            </a:r>
            <a:r>
              <a:rPr lang="en-US" sz="1400" dirty="0" smtClean="0"/>
              <a:t> - </a:t>
            </a:r>
            <a:r>
              <a:rPr lang="en-US" sz="1400" dirty="0" err="1" smtClean="0"/>
              <a:t>collab</a:t>
            </a:r>
            <a:endParaRPr lang="en-US" sz="1400" dirty="0" smtClean="0"/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842" y="4662150"/>
            <a:ext cx="4488650" cy="1932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98167" y="4044099"/>
            <a:ext cx="2089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200" dirty="0" smtClean="0"/>
              <a:t>במחברת שלנו:</a:t>
            </a:r>
          </a:p>
          <a:p>
            <a:r>
              <a:rPr lang="he-IL" sz="1200" dirty="0" smtClean="0"/>
              <a:t>מקבלת קובץ תמונה</a:t>
            </a:r>
          </a:p>
          <a:p>
            <a:r>
              <a:rPr lang="he-IL" sz="1200" dirty="0" smtClean="0"/>
              <a:t>מחזירה תמונה עם מסגרת וזיהוי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472307" y="5628300"/>
            <a:ext cx="3460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dirty="0" smtClean="0"/>
              <a:t>בדוגמא של </a:t>
            </a:r>
            <a:r>
              <a:rPr lang="en-US" sz="1400" dirty="0" smtClean="0"/>
              <a:t>yolo </a:t>
            </a:r>
            <a:r>
              <a:rPr lang="he-IL" sz="1400" dirty="0" smtClean="0"/>
              <a:t>  </a:t>
            </a:r>
            <a:r>
              <a:rPr lang="en-US" sz="1400" dirty="0" smtClean="0"/>
              <a:t>:  </a:t>
            </a:r>
            <a:r>
              <a:rPr lang="he-IL" sz="1400" dirty="0" smtClean="0"/>
              <a:t> מגיע מ- </a:t>
            </a:r>
            <a:r>
              <a:rPr lang="en-US" sz="1400" dirty="0" smtClean="0"/>
              <a:t>results</a:t>
            </a:r>
            <a:r>
              <a:rPr lang="he-IL" sz="1400" dirty="0" smtClean="0"/>
              <a:t>,</a:t>
            </a:r>
            <a:endParaRPr lang="en-US" sz="1400" dirty="0" smtClean="0"/>
          </a:p>
          <a:p>
            <a:r>
              <a:rPr lang="he-IL" sz="1400" dirty="0" smtClean="0"/>
              <a:t> גם </a:t>
            </a:r>
            <a:r>
              <a:rPr lang="en-US" sz="1400" dirty="0" smtClean="0"/>
              <a:t>classification</a:t>
            </a:r>
            <a:r>
              <a:rPr lang="he-IL" sz="1400" dirty="0" smtClean="0"/>
              <a:t> וגם תמונה עם </a:t>
            </a:r>
            <a:r>
              <a:rPr lang="en-US" sz="1400" dirty="0" smtClean="0"/>
              <a:t>bounding Box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823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77" y="1582486"/>
            <a:ext cx="7382162" cy="3781366"/>
          </a:xfrm>
          <a:prstGeom prst="rect">
            <a:avLst/>
          </a:prstGeom>
        </p:spPr>
      </p:pic>
      <p:sp>
        <p:nvSpPr>
          <p:cNvPr id="3" name="כותרת 1"/>
          <p:cNvSpPr txBox="1">
            <a:spLocks/>
          </p:cNvSpPr>
          <p:nvPr/>
        </p:nvSpPr>
        <p:spPr>
          <a:xfrm>
            <a:off x="838200" y="365126"/>
            <a:ext cx="10515600" cy="794372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בניית האפליקציה - </a:t>
            </a:r>
            <a:r>
              <a:rPr lang="en-US" dirty="0" smtClean="0">
                <a:solidFill>
                  <a:srgbClr val="0070C0"/>
                </a:solidFill>
              </a:rPr>
              <a:t>code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74867" y="1831114"/>
            <a:ext cx="52342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400" dirty="0" smtClean="0"/>
              <a:t>קריאה למחברת </a:t>
            </a:r>
            <a:r>
              <a:rPr lang="en-US" sz="1400" dirty="0" smtClean="0"/>
              <a:t> - </a:t>
            </a:r>
            <a:r>
              <a:rPr lang="en-US" sz="1400" dirty="0" err="1" smtClean="0"/>
              <a:t>collab</a:t>
            </a: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400" dirty="0" smtClean="0"/>
              <a:t>קורא לפונקציה:  </a:t>
            </a:r>
            <a:r>
              <a:rPr lang="en-US" sz="1400" dirty="0" err="1" smtClean="0"/>
              <a:t>classift_image</a:t>
            </a:r>
            <a:r>
              <a:rPr lang="he-IL" sz="1400" dirty="0" smtClean="0"/>
              <a:t>  עם הפרמטר שהוא אובייקט התמונה</a:t>
            </a: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400" dirty="0" smtClean="0"/>
              <a:t>קריאה למחברת </a:t>
            </a:r>
            <a:r>
              <a:rPr lang="en-US" sz="1400" dirty="0" smtClean="0"/>
              <a:t> - </a:t>
            </a:r>
            <a:r>
              <a:rPr lang="en-US" sz="1400" dirty="0" err="1" smtClean="0"/>
              <a:t>collab</a:t>
            </a:r>
            <a:endParaRPr lang="en-US" sz="1400" dirty="0" smtClean="0"/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298581" y="2885043"/>
            <a:ext cx="3179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 dirty="0" smtClean="0"/>
              <a:t>העברת התמונה עם ה- </a:t>
            </a:r>
            <a:r>
              <a:rPr lang="en-US" sz="1600" dirty="0" smtClean="0"/>
              <a:t>bounding box</a:t>
            </a:r>
            <a:endParaRPr lang="he-IL" sz="1600" dirty="0" smtClean="0"/>
          </a:p>
          <a:p>
            <a:r>
              <a:rPr lang="he-IL" sz="1600" dirty="0" smtClean="0"/>
              <a:t>לתצוגה ב- </a:t>
            </a:r>
            <a:r>
              <a:rPr lang="en-US" sz="1600" dirty="0" smtClean="0"/>
              <a:t>anvil App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7202584" y="4328916"/>
            <a:ext cx="2289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 dirty="0" smtClean="0"/>
              <a:t>טעינת תמונה חדשה לזיהוי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79444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133" y="1786840"/>
            <a:ext cx="3908667" cy="785906"/>
          </a:xfrm>
          <a:prstGeom prst="rect">
            <a:avLst/>
          </a:prstGeom>
        </p:spPr>
      </p:pic>
      <p:sp>
        <p:nvSpPr>
          <p:cNvPr id="3" name="כותרת 1"/>
          <p:cNvSpPr txBox="1">
            <a:spLocks/>
          </p:cNvSpPr>
          <p:nvPr/>
        </p:nvSpPr>
        <p:spPr>
          <a:xfrm>
            <a:off x="838200" y="365126"/>
            <a:ext cx="10515600" cy="794372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בניית האפליקציה - </a:t>
            </a:r>
            <a:r>
              <a:rPr lang="en-US" dirty="0" smtClean="0">
                <a:solidFill>
                  <a:srgbClr val="0070C0"/>
                </a:solidFill>
              </a:rPr>
              <a:t>code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6" name="מחבר חץ ישר 5"/>
          <p:cNvCxnSpPr/>
          <p:nvPr/>
        </p:nvCxnSpPr>
        <p:spPr>
          <a:xfrm flipH="1" flipV="1">
            <a:off x="10350631" y="2375556"/>
            <a:ext cx="716437" cy="1498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09709" y="4119513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ביצוע  </a:t>
            </a:r>
            <a:r>
              <a:rPr lang="en-US" dirty="0" smtClean="0"/>
              <a:t>Uplink</a:t>
            </a:r>
            <a:endParaRPr lang="en-US" dirty="0"/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38" y="599062"/>
            <a:ext cx="4895571" cy="4095486"/>
          </a:xfrm>
          <a:prstGeom prst="rect">
            <a:avLst/>
          </a:prstGeom>
        </p:spPr>
      </p:pic>
      <p:pic>
        <p:nvPicPr>
          <p:cNvPr id="11" name="תמונה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697" y="5286716"/>
            <a:ext cx="6806152" cy="13088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83423" y="4805966"/>
            <a:ext cx="4931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קישור למחברת </a:t>
            </a:r>
            <a:r>
              <a:rPr lang="en-IL" dirty="0" smtClean="0"/>
              <a:t>–</a:t>
            </a:r>
            <a:r>
              <a:rPr lang="he-IL" dirty="0" smtClean="0"/>
              <a:t> יש להעתיק את המפתח מה- </a:t>
            </a:r>
            <a:r>
              <a:rPr lang="en-US" dirty="0" smtClean="0"/>
              <a:t>uplink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703443" y="5852339"/>
            <a:ext cx="191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סוף המחברת שלנו:</a:t>
            </a:r>
            <a:endParaRPr lang="en-US" dirty="0"/>
          </a:p>
        </p:txBody>
      </p:sp>
      <p:sp>
        <p:nvSpPr>
          <p:cNvPr id="14" name="אליפסה 13"/>
          <p:cNvSpPr/>
          <p:nvPr/>
        </p:nvSpPr>
        <p:spPr>
          <a:xfrm>
            <a:off x="226206" y="2738487"/>
            <a:ext cx="4495879" cy="1743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אליפסה 14"/>
          <p:cNvSpPr/>
          <p:nvPr/>
        </p:nvSpPr>
        <p:spPr>
          <a:xfrm>
            <a:off x="53419" y="3146818"/>
            <a:ext cx="6042581" cy="6333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מחבר חץ ישר 16"/>
          <p:cNvCxnSpPr/>
          <p:nvPr/>
        </p:nvCxnSpPr>
        <p:spPr>
          <a:xfrm flipH="1" flipV="1">
            <a:off x="5495827" y="3812299"/>
            <a:ext cx="311084" cy="993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315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 txBox="1">
            <a:spLocks/>
          </p:cNvSpPr>
          <p:nvPr/>
        </p:nvSpPr>
        <p:spPr>
          <a:xfrm>
            <a:off x="838200" y="365126"/>
            <a:ext cx="10515600" cy="794372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קישור המחברת ל- </a:t>
            </a:r>
            <a:r>
              <a:rPr lang="en-US" dirty="0" smtClean="0">
                <a:solidFill>
                  <a:srgbClr val="0070C0"/>
                </a:solidFill>
              </a:rPr>
              <a:t>Anvil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14151" y="1838227"/>
            <a:ext cx="16578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/>
              <a:t>מתוך ה- </a:t>
            </a:r>
            <a:r>
              <a:rPr lang="en-US" dirty="0" smtClean="0"/>
              <a:t>Uplink</a:t>
            </a:r>
            <a:r>
              <a:rPr lang="he-IL" dirty="0" smtClean="0"/>
              <a:t>:</a:t>
            </a:r>
          </a:p>
          <a:p>
            <a:endParaRPr lang="he-IL" dirty="0" smtClean="0"/>
          </a:p>
          <a:p>
            <a:endParaRPr lang="en-US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4558"/>
            <a:ext cx="4895571" cy="4095486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92" y="1159498"/>
            <a:ext cx="5096586" cy="1171739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322" y="2484558"/>
            <a:ext cx="3248478" cy="409632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322" y="3078285"/>
            <a:ext cx="3200847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0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 txBox="1">
            <a:spLocks/>
          </p:cNvSpPr>
          <p:nvPr/>
        </p:nvSpPr>
        <p:spPr>
          <a:xfrm>
            <a:off x="838200" y="365126"/>
            <a:ext cx="10515600" cy="794372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קישור המחברת ל- </a:t>
            </a:r>
            <a:r>
              <a:rPr lang="en-US" dirty="0" smtClean="0">
                <a:solidFill>
                  <a:srgbClr val="0070C0"/>
                </a:solidFill>
              </a:rPr>
              <a:t>Anvil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17132" y="3603066"/>
            <a:ext cx="1273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200" dirty="0" smtClean="0"/>
              <a:t>לא ברור אם צריך:</a:t>
            </a:r>
            <a:endParaRPr lang="en-US" sz="1200" dirty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8" y="257676"/>
            <a:ext cx="3609893" cy="829938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34" y="1175292"/>
            <a:ext cx="2378230" cy="299894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68" y="1549144"/>
            <a:ext cx="2343362" cy="530046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34" y="3383055"/>
            <a:ext cx="4174809" cy="638938"/>
          </a:xfrm>
          <a:prstGeom prst="rect">
            <a:avLst/>
          </a:prstGeom>
        </p:spPr>
      </p:pic>
      <p:pic>
        <p:nvPicPr>
          <p:cNvPr id="9" name="תמונה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68" y="2121929"/>
            <a:ext cx="2678127" cy="5370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69849" y="2390374"/>
            <a:ext cx="1726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solidFill>
                  <a:srgbClr val="FF0000"/>
                </a:solidFill>
              </a:rPr>
              <a:t>Resize is needed ?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5" name="תמונה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12" y="4077660"/>
            <a:ext cx="3609893" cy="14684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35495" y="4360079"/>
            <a:ext cx="5516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e-IL" sz="1600" dirty="0" smtClean="0">
                <a:solidFill>
                  <a:srgbClr val="FF0000"/>
                </a:solidFill>
              </a:rPr>
              <a:t>דרך ה- </a:t>
            </a:r>
            <a:r>
              <a:rPr lang="en-US" sz="1600" dirty="0" smtClean="0">
                <a:solidFill>
                  <a:srgbClr val="FF0000"/>
                </a:solidFill>
              </a:rPr>
              <a:t>Anvil</a:t>
            </a:r>
            <a:r>
              <a:rPr lang="he-IL" sz="1600" dirty="0" smtClean="0">
                <a:solidFill>
                  <a:srgbClr val="FF0000"/>
                </a:solidFill>
              </a:rPr>
              <a:t>, מקבלים את הקובץ שעושים לו </a:t>
            </a:r>
            <a:r>
              <a:rPr lang="en-US" sz="1600" dirty="0" smtClean="0">
                <a:solidFill>
                  <a:srgbClr val="FF0000"/>
                </a:solidFill>
              </a:rPr>
              <a:t>load</a:t>
            </a:r>
            <a:r>
              <a:rPr lang="he-IL" sz="1600" dirty="0" smtClean="0">
                <a:solidFill>
                  <a:srgbClr val="FF0000"/>
                </a:solidFill>
              </a:rPr>
              <a:t>, דרך </a:t>
            </a:r>
            <a:r>
              <a:rPr lang="en-US" sz="1600" dirty="0" err="1" smtClean="0">
                <a:solidFill>
                  <a:srgbClr val="FF0000"/>
                </a:solidFill>
              </a:rPr>
              <a:t>keras</a:t>
            </a:r>
            <a:r>
              <a:rPr lang="en-US" sz="1600" dirty="0" smtClean="0">
                <a:solidFill>
                  <a:srgbClr val="FF0000"/>
                </a:solidFill>
              </a:rPr>
              <a:t> or </a:t>
            </a:r>
            <a:r>
              <a:rPr lang="en-US" sz="1600" dirty="0" err="1" smtClean="0">
                <a:solidFill>
                  <a:srgbClr val="FF0000"/>
                </a:solidFill>
              </a:rPr>
              <a:t>plt</a:t>
            </a:r>
            <a:endParaRPr lang="en-US" sz="1600" dirty="0" smtClean="0">
              <a:solidFill>
                <a:srgbClr val="FF0000"/>
              </a:solidFill>
            </a:endParaRPr>
          </a:p>
        </p:txBody>
      </p:sp>
      <p:pic>
        <p:nvPicPr>
          <p:cNvPr id="17" name="תמונה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4907" y="1656985"/>
            <a:ext cx="2991267" cy="485843"/>
          </a:xfrm>
          <a:prstGeom prst="rect">
            <a:avLst/>
          </a:prstGeom>
        </p:spPr>
      </p:pic>
      <p:pic>
        <p:nvPicPr>
          <p:cNvPr id="18" name="תמונה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434" y="2722358"/>
            <a:ext cx="7709861" cy="5936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44353" y="3695307"/>
            <a:ext cx="33145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200" dirty="0" smtClean="0">
                <a:solidFill>
                  <a:srgbClr val="FF0000"/>
                </a:solidFill>
              </a:rPr>
              <a:t>לא צריך-טעינת מחברת אחרת שם ביצע אימון המודל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29542" y="4994070"/>
            <a:ext cx="3239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  </a:t>
            </a:r>
            <a:r>
              <a:rPr lang="en-US" sz="1400" dirty="0" err="1" smtClean="0"/>
              <a:t>class_name</a:t>
            </a:r>
            <a:r>
              <a:rPr lang="he-IL" sz="1400" dirty="0" smtClean="0"/>
              <a:t>ישירות מה-  </a:t>
            </a:r>
            <a:r>
              <a:rPr lang="en-US" sz="1400" dirty="0" err="1" smtClean="0"/>
              <a:t>ultralitics</a:t>
            </a:r>
            <a:r>
              <a:rPr lang="en-US" sz="1400" dirty="0" smtClean="0"/>
              <a:t> Results</a:t>
            </a:r>
            <a:endParaRPr lang="en-US" sz="1400" dirty="0"/>
          </a:p>
        </p:txBody>
      </p:sp>
      <p:cxnSp>
        <p:nvCxnSpPr>
          <p:cNvPr id="22" name="מחבר חץ ישר 21"/>
          <p:cNvCxnSpPr>
            <a:stCxn id="20" idx="1"/>
          </p:cNvCxnSpPr>
          <p:nvPr/>
        </p:nvCxnSpPr>
        <p:spPr>
          <a:xfrm flipH="1" flipV="1">
            <a:off x="4264105" y="4994070"/>
            <a:ext cx="1465437" cy="153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תמונה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212" y="5670710"/>
            <a:ext cx="5967167" cy="114753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79443" y="5597284"/>
            <a:ext cx="5344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 smtClean="0">
                <a:solidFill>
                  <a:srgbClr val="0070C0"/>
                </a:solidFill>
              </a:rPr>
              <a:t>שאלה-האם להעביר את </a:t>
            </a:r>
            <a:r>
              <a:rPr lang="en-US" dirty="0" smtClean="0">
                <a:solidFill>
                  <a:srgbClr val="0070C0"/>
                </a:solidFill>
              </a:rPr>
              <a:t>Results</a:t>
            </a:r>
            <a:r>
              <a:rPr lang="he-IL" dirty="0" smtClean="0">
                <a:solidFill>
                  <a:srgbClr val="0070C0"/>
                </a:solidFill>
              </a:rPr>
              <a:t> ל- </a:t>
            </a:r>
            <a:r>
              <a:rPr lang="en-US" dirty="0" err="1" smtClean="0">
                <a:solidFill>
                  <a:srgbClr val="0070C0"/>
                </a:solidFill>
              </a:rPr>
              <a:t>classify_image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he-IL" dirty="0" smtClean="0">
                <a:solidFill>
                  <a:srgbClr val="0070C0"/>
                </a:solidFill>
              </a:rPr>
              <a:t>שה- </a:t>
            </a:r>
            <a:r>
              <a:rPr lang="en-US" dirty="0" smtClean="0">
                <a:solidFill>
                  <a:srgbClr val="0070C0"/>
                </a:solidFill>
              </a:rPr>
              <a:t>Anvil </a:t>
            </a:r>
            <a:r>
              <a:rPr lang="he-IL" dirty="0" smtClean="0">
                <a:solidFill>
                  <a:srgbClr val="0070C0"/>
                </a:solidFill>
              </a:rPr>
              <a:t>, קורא לה בלחיצה על כפתור </a:t>
            </a:r>
            <a:r>
              <a:rPr lang="en-US" dirty="0" err="1" smtClean="0">
                <a:solidFill>
                  <a:srgbClr val="0070C0"/>
                </a:solidFill>
              </a:rPr>
              <a:t>categiorize</a:t>
            </a:r>
            <a:endParaRPr lang="he-IL" dirty="0" smtClean="0">
              <a:solidFill>
                <a:srgbClr val="0070C0"/>
              </a:solidFill>
            </a:endParaRPr>
          </a:p>
          <a:p>
            <a:r>
              <a:rPr lang="he-IL" dirty="0" smtClean="0">
                <a:solidFill>
                  <a:srgbClr val="0070C0"/>
                </a:solidFill>
              </a:rPr>
              <a:t>או להשתמש בו ישירות מהפונקציה ? </a:t>
            </a:r>
            <a:r>
              <a:rPr lang="en-IL" dirty="0" smtClean="0">
                <a:solidFill>
                  <a:srgbClr val="0070C0"/>
                </a:solidFill>
              </a:rPr>
              <a:t>–</a:t>
            </a:r>
            <a:r>
              <a:rPr lang="he-IL" dirty="0" smtClean="0">
                <a:solidFill>
                  <a:srgbClr val="0070C0"/>
                </a:solidFill>
              </a:rPr>
              <a:t>עדיף להעביר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890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51" y="424205"/>
            <a:ext cx="5587621" cy="6174557"/>
          </a:xfrm>
          <a:prstGeom prst="rect">
            <a:avLst/>
          </a:prstGeom>
        </p:spPr>
      </p:pic>
      <p:cxnSp>
        <p:nvCxnSpPr>
          <p:cNvPr id="4" name="מחבר ישר 3"/>
          <p:cNvCxnSpPr/>
          <p:nvPr/>
        </p:nvCxnSpPr>
        <p:spPr>
          <a:xfrm>
            <a:off x="527901" y="707010"/>
            <a:ext cx="1489435" cy="9428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מחבר ישר 5"/>
          <p:cNvCxnSpPr/>
          <p:nvPr/>
        </p:nvCxnSpPr>
        <p:spPr>
          <a:xfrm>
            <a:off x="256094" y="6383517"/>
            <a:ext cx="3627749" cy="7856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מלבן 7"/>
          <p:cNvSpPr/>
          <p:nvPr/>
        </p:nvSpPr>
        <p:spPr>
          <a:xfrm>
            <a:off x="405353" y="4383463"/>
            <a:ext cx="5976593" cy="3205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931520" y="2649709"/>
            <a:ext cx="41011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400" dirty="0" smtClean="0"/>
              <a:t>אנחנו מקבלים את התמונה עם </a:t>
            </a:r>
            <a:endParaRPr lang="en-US" sz="1400" dirty="0" smtClean="0"/>
          </a:p>
          <a:p>
            <a:r>
              <a:rPr lang="en-US" sz="1400" dirty="0" smtClean="0"/>
              <a:t>bounding Box</a:t>
            </a:r>
            <a:r>
              <a:rPr lang="he-IL" sz="1400" dirty="0" smtClean="0"/>
              <a:t>  מ </a:t>
            </a:r>
            <a:r>
              <a:rPr lang="en-US" sz="1400" dirty="0" smtClean="0"/>
              <a:t>Results</a:t>
            </a:r>
            <a:r>
              <a:rPr lang="he-IL" sz="1400" dirty="0" smtClean="0"/>
              <a:t> שזו תוצאה של </a:t>
            </a:r>
            <a:r>
              <a:rPr lang="en-US" sz="1400" dirty="0" err="1" smtClean="0"/>
              <a:t>ultralitics</a:t>
            </a:r>
            <a:r>
              <a:rPr lang="en-US" sz="1400" dirty="0" smtClean="0"/>
              <a:t>-Yolo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400" dirty="0" smtClean="0"/>
              <a:t>מייצרים קובץ תוצאה לטובת </a:t>
            </a:r>
            <a:r>
              <a:rPr lang="en-US" sz="1400" dirty="0" smtClean="0"/>
              <a:t>Anvil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7342336" y="5099504"/>
            <a:ext cx="31062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400" dirty="0" smtClean="0"/>
              <a:t>אנחנו מקבלים את ה- </a:t>
            </a:r>
            <a:r>
              <a:rPr lang="en-US" sz="1400" dirty="0" smtClean="0"/>
              <a:t>prediction class</a:t>
            </a:r>
          </a:p>
          <a:p>
            <a:r>
              <a:rPr lang="he-IL" sz="1400" dirty="0" smtClean="0"/>
              <a:t>מ </a:t>
            </a:r>
            <a:r>
              <a:rPr lang="en-US" sz="1400" dirty="0" smtClean="0"/>
              <a:t>Results</a:t>
            </a:r>
            <a:r>
              <a:rPr lang="he-IL" sz="1400" dirty="0" smtClean="0"/>
              <a:t> שזו תוצאה של </a:t>
            </a:r>
            <a:r>
              <a:rPr lang="en-US" sz="1400" dirty="0" err="1" smtClean="0"/>
              <a:t>ultralitics</a:t>
            </a:r>
            <a:r>
              <a:rPr lang="en-US" sz="1400" dirty="0" smtClean="0"/>
              <a:t>-Yolo</a:t>
            </a:r>
          </a:p>
          <a:p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6364947" y="716438"/>
            <a:ext cx="53053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dirty="0" smtClean="0">
                <a:solidFill>
                  <a:srgbClr val="0070C0"/>
                </a:solidFill>
              </a:rPr>
              <a:t>שתי הפונקציות מבצעות פעולות </a:t>
            </a:r>
          </a:p>
          <a:p>
            <a:r>
              <a:rPr lang="he-IL" sz="1400" dirty="0" smtClean="0">
                <a:solidFill>
                  <a:srgbClr val="0070C0"/>
                </a:solidFill>
              </a:rPr>
              <a:t>הנדרשות לפונקציה הקוראת לטובת ה- </a:t>
            </a:r>
            <a:r>
              <a:rPr lang="en-US" sz="1400" dirty="0" smtClean="0">
                <a:solidFill>
                  <a:srgbClr val="0070C0"/>
                </a:solidFill>
              </a:rPr>
              <a:t>Anvil</a:t>
            </a:r>
          </a:p>
          <a:p>
            <a:r>
              <a:rPr lang="he-IL" sz="1400" dirty="0" smtClean="0">
                <a:solidFill>
                  <a:srgbClr val="0070C0"/>
                </a:solidFill>
              </a:rPr>
              <a:t>חלק מהפעולות מיותרות כי נקבלן</a:t>
            </a:r>
            <a:r>
              <a:rPr lang="en-US" sz="1400" dirty="0" smtClean="0">
                <a:solidFill>
                  <a:srgbClr val="0070C0"/>
                </a:solidFill>
              </a:rPr>
              <a:t> </a:t>
            </a:r>
            <a:r>
              <a:rPr lang="he-IL" sz="1400" dirty="0"/>
              <a:t>מ </a:t>
            </a:r>
            <a:r>
              <a:rPr lang="en-US" sz="1400" dirty="0"/>
              <a:t>Results</a:t>
            </a:r>
            <a:r>
              <a:rPr lang="he-IL" sz="1400" dirty="0"/>
              <a:t> שזו תוצאה של </a:t>
            </a:r>
            <a:r>
              <a:rPr lang="en-US" sz="1400" dirty="0" err="1"/>
              <a:t>ultralitics</a:t>
            </a:r>
            <a:r>
              <a:rPr lang="en-US" sz="1400" dirty="0"/>
              <a:t>-Yolo</a:t>
            </a:r>
          </a:p>
          <a:p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25749" y="4458878"/>
            <a:ext cx="2730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 smtClean="0">
                <a:solidFill>
                  <a:srgbClr val="FF0000"/>
                </a:solidFill>
              </a:rPr>
              <a:t>נוצר קובץ להצגה בשם קבוע: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6" name="מחבר חץ ישר 15"/>
          <p:cNvCxnSpPr>
            <a:stCxn id="14" idx="1"/>
          </p:cNvCxnSpPr>
          <p:nvPr/>
        </p:nvCxnSpPr>
        <p:spPr>
          <a:xfrm flipH="1" flipV="1">
            <a:off x="6381946" y="4590854"/>
            <a:ext cx="1643803" cy="52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31520" y="6109462"/>
            <a:ext cx="3594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Resize </a:t>
            </a:r>
            <a:r>
              <a:rPr lang="he-IL" dirty="0" smtClean="0"/>
              <a:t>כנראה נדרש למודל של הכלבים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5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8" y="518507"/>
            <a:ext cx="6535062" cy="5858693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172" y="84842"/>
            <a:ext cx="6078605" cy="4732755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292" y="5075989"/>
            <a:ext cx="7078063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49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10" y="1168926"/>
            <a:ext cx="7481856" cy="34739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07077" y="584462"/>
            <a:ext cx="64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Anvil</a:t>
            </a:r>
            <a:endParaRPr lang="en-US" dirty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014" y="5007472"/>
            <a:ext cx="8487851" cy="127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73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86" y="2390287"/>
            <a:ext cx="5610957" cy="2332542"/>
          </a:xfrm>
          <a:prstGeom prst="rect">
            <a:avLst/>
          </a:prstGeom>
        </p:spPr>
      </p:pic>
      <p:sp>
        <p:nvSpPr>
          <p:cNvPr id="3" name="כותרת 1"/>
          <p:cNvSpPr txBox="1">
            <a:spLocks/>
          </p:cNvSpPr>
          <p:nvPr/>
        </p:nvSpPr>
        <p:spPr>
          <a:xfrm>
            <a:off x="838200" y="365126"/>
            <a:ext cx="10515600" cy="794372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הרצה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67218" y="1451727"/>
            <a:ext cx="8586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מריצים את ה- </a:t>
            </a:r>
            <a:r>
              <a:rPr lang="en-US" dirty="0" smtClean="0"/>
              <a:t>google </a:t>
            </a:r>
            <a:r>
              <a:rPr lang="en-US" dirty="0" err="1" smtClean="0"/>
              <a:t>collab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בטעינת </a:t>
            </a:r>
            <a:r>
              <a:rPr lang="en-US" dirty="0" smtClean="0"/>
              <a:t>anvil</a:t>
            </a:r>
            <a:r>
              <a:rPr lang="he-IL" dirty="0" smtClean="0"/>
              <a:t> </a:t>
            </a:r>
            <a:r>
              <a:rPr lang="en-IL" dirty="0" smtClean="0"/>
              <a:t>–</a:t>
            </a:r>
            <a:r>
              <a:rPr lang="he-IL" dirty="0" smtClean="0"/>
              <a:t> מקבלים אזהרה </a:t>
            </a:r>
            <a:r>
              <a:rPr lang="en-IL" dirty="0" smtClean="0"/>
              <a:t>–</a:t>
            </a:r>
            <a:r>
              <a:rPr lang="he-IL" dirty="0" smtClean="0"/>
              <a:t> לחיצה על </a:t>
            </a:r>
            <a:r>
              <a:rPr lang="en-US" dirty="0" smtClean="0"/>
              <a:t>restart session</a:t>
            </a:r>
            <a:r>
              <a:rPr lang="he-IL" dirty="0" smtClean="0"/>
              <a:t>  לא עוזרת </a:t>
            </a:r>
            <a:r>
              <a:rPr lang="en-IL" dirty="0" smtClean="0"/>
              <a:t>–</a:t>
            </a:r>
            <a:r>
              <a:rPr lang="he-IL" dirty="0" smtClean="0"/>
              <a:t> לא מפריע להרצה.</a:t>
            </a:r>
            <a:endParaRPr lang="en-US" dirty="0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257" y="5625257"/>
            <a:ext cx="4610743" cy="6954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26069" y="5120330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צריך לרוץ כל הסמן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964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1"/>
          <p:cNvSpPr txBox="1">
            <a:spLocks/>
          </p:cNvSpPr>
          <p:nvPr/>
        </p:nvSpPr>
        <p:spPr>
          <a:xfrm>
            <a:off x="838200" y="365126"/>
            <a:ext cx="10515600" cy="794372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הרצה - המשך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3243" y="1508288"/>
            <a:ext cx="3670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מריצים את הממשק </a:t>
            </a:r>
            <a:r>
              <a:rPr lang="en-IL" dirty="0" smtClean="0"/>
              <a:t>–</a:t>
            </a:r>
            <a:r>
              <a:rPr lang="he-IL" dirty="0" smtClean="0"/>
              <a:t> דרך ה-  </a:t>
            </a:r>
            <a:r>
              <a:rPr lang="en-US" dirty="0" smtClean="0"/>
              <a:t>Anvil</a:t>
            </a:r>
            <a:endParaRPr lang="en-US" dirty="0"/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39" y="2299495"/>
            <a:ext cx="8369730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87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 txBox="1">
            <a:spLocks/>
          </p:cNvSpPr>
          <p:nvPr/>
        </p:nvSpPr>
        <p:spPr>
          <a:xfrm>
            <a:off x="838200" y="365126"/>
            <a:ext cx="10515600" cy="794372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 smtClean="0">
                <a:solidFill>
                  <a:srgbClr val="0070C0"/>
                </a:solidFill>
              </a:rPr>
              <a:t>יצירת תמונות למודל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1706252" y="1606254"/>
            <a:ext cx="96475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דרך </a:t>
            </a:r>
            <a:r>
              <a:rPr lang="en-US" sz="2400" dirty="0"/>
              <a:t>snipping tool</a:t>
            </a:r>
            <a:r>
              <a:rPr lang="he-IL" sz="2400" dirty="0"/>
              <a:t>  חותכים את התמונה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מעבירים ל</a:t>
            </a:r>
            <a:r>
              <a:rPr lang="en-US" sz="2400" dirty="0"/>
              <a:t> power point</a:t>
            </a:r>
            <a:r>
              <a:rPr lang="he-IL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שומרים כ </a:t>
            </a:r>
            <a:r>
              <a:rPr lang="en-IL" sz="2400" dirty="0"/>
              <a:t>–</a:t>
            </a:r>
            <a:r>
              <a:rPr lang="he-IL" sz="2400" dirty="0"/>
              <a:t> </a:t>
            </a:r>
            <a:r>
              <a:rPr lang="en-US" sz="2400" dirty="0"/>
              <a:t>jpg, </a:t>
            </a:r>
            <a:r>
              <a:rPr lang="en-US" sz="2400" dirty="0" err="1"/>
              <a:t>png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אפשר להוסיף קוביות אדומות למצגות כי ה- </a:t>
            </a:r>
            <a:r>
              <a:rPr lang="en-US" sz="2400" dirty="0"/>
              <a:t>Anvil </a:t>
            </a:r>
            <a:r>
              <a:rPr lang="he-IL" sz="2400" dirty="0" smtClean="0"/>
              <a:t> מחזיר </a:t>
            </a:r>
            <a:r>
              <a:rPr lang="he-IL" sz="2400" dirty="0"/>
              <a:t>תמונה קטנה מדי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473192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22897</TotalTime>
  <Words>735</Words>
  <Application>Microsoft Office PowerPoint</Application>
  <PresentationFormat>מסך רחב</PresentationFormat>
  <Paragraphs>144</Paragraphs>
  <Slides>26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ערכת נושא Office</vt:lpstr>
      <vt:lpstr>הוספת web interface למחברת collab </vt:lpstr>
      <vt:lpstr>הרצה</vt:lpstr>
      <vt:lpstr>בניית האפליקציה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בניית האפליקציה - טעינת קובץ תמונה אתחול הרכיב File loader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הוספת web interface למחברת collab</dc:title>
  <dc:creator>Aviv Asulin</dc:creator>
  <cp:lastModifiedBy>Aviv Asulin</cp:lastModifiedBy>
  <cp:revision>65</cp:revision>
  <dcterms:created xsi:type="dcterms:W3CDTF">2024-09-01T07:48:51Z</dcterms:created>
  <dcterms:modified xsi:type="dcterms:W3CDTF">2026-01-13T06:35:04Z</dcterms:modified>
</cp:coreProperties>
</file>